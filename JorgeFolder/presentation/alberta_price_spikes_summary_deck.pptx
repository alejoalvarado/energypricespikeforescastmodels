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9728" cy="4480560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96012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2424"/>
                </a:solidFill>
                <a:latin typeface="Arial"/>
              </a:rPr>
              <a:t>Predicting Alberta Electricity Price Spikes</a:t>
            </a:r>
          </a:p>
          <a:p>
            <a:r>
              <a:rPr sz="1800">
                <a:solidFill>
                  <a:srgbClr val="5A5A5A"/>
                </a:solidFill>
                <a:latin typeface="Arial"/>
              </a:rPr>
              <a:t>A summary presentation of the EDA, modeling setup, and final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5202E"/>
                </a:solidFill>
                <a:latin typeface="Arial"/>
              </a:rPr>
              <a:t>Models summarized here: CNN = 0.416, LSTM = 0.394, MLP = 0.363</a:t>
            </a:r>
          </a:p>
          <a:p>
            <a:r>
              <a:rPr sz="1600">
                <a:solidFill>
                  <a:srgbClr val="242424"/>
                </a:solidFill>
                <a:latin typeface="Arial"/>
              </a:rPr>
              <a:t>Target: predict whether the Alberta pool price exceeds CAD 200/MWh at t+2.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2788920"/>
            <a:ext cx="260604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97112" y="2898648"/>
            <a:ext cx="2331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Project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2" y="3154680"/>
            <a:ext cx="23134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Use public AESO hourly market and generation data to identify short-run spike risk and compare simple and sequential neural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Data 607 presentation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Arial"/>
              </a:rPr>
              <a:t>Why This Problem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463040" cy="54864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675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2424"/>
                </a:solidFill>
                <a:latin typeface="Arial"/>
              </a:defRPr>
            </a:pPr>
            <a:r>
              <a:t>Alberta is an energy-only market, so tight supply-demand conditions can translate into sharp hourly price spikes.</a:t>
            </a:r>
          </a:p>
          <a:p>
            <a:pPr>
              <a:spcAft>
                <a:spcPts val="800"/>
              </a:spcAft>
              <a:defRPr sz="1800">
                <a:solidFill>
                  <a:srgbClr val="242424"/>
                </a:solidFill>
                <a:latin typeface="Arial"/>
              </a:defRPr>
            </a:pPr>
            <a:r>
              <a:t>Those spikes matter operationally and financially for retailers, generators, large consumers, and risk managers.</a:t>
            </a:r>
          </a:p>
          <a:p>
            <a:pPr>
              <a:spcAft>
                <a:spcPts val="800"/>
              </a:spcAft>
              <a:defRPr sz="1800">
                <a:solidFill>
                  <a:srgbClr val="242424"/>
                </a:solidFill>
                <a:latin typeface="Arial"/>
              </a:defRPr>
            </a:pPr>
            <a:r>
              <a:t>The goal is to predict spike risk two hours ahead using only information available at time 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600200"/>
            <a:ext cx="3520440" cy="1417320"/>
          </a:xfrm>
          <a:prstGeom prst="roundRect">
            <a:avLst/>
          </a:prstGeom>
          <a:solidFill>
            <a:srgbClr val="F7E9EC"/>
          </a:solidFill>
          <a:ln>
            <a:solidFill>
              <a:srgbClr val="F7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82712" y="1709928"/>
            <a:ext cx="3246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Modeling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2712" y="1965960"/>
            <a:ext cx="32278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48,168 modeled hourly rows
2020-01-03 to 2025-07-01 23:00
Overall spike rate: 10.1%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383280"/>
            <a:ext cx="352044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2" y="3493008"/>
            <a:ext cx="3246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Main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3749040"/>
            <a:ext cx="32278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Pool price, load, imports/exports, generation by fuel type, renewable shares, reserve-style tightness indicators, and lagged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5074920"/>
            <a:ext cx="3520440" cy="914400"/>
          </a:xfrm>
          <a:prstGeom prst="roundRect">
            <a:avLst/>
          </a:prstGeom>
          <a:solidFill>
            <a:srgbClr val="F7E9EC"/>
          </a:solidFill>
          <a:ln>
            <a:solidFill>
              <a:srgbClr val="F7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5184648"/>
            <a:ext cx="3246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Two AESO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2" y="5440680"/>
            <a:ext cx="3227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Hourly Metered Volumes / Pool Price / AIL
+
Historical Generation Data (CSD)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Source: AESO hourly market and generation datasets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Arial"/>
              </a:rPr>
              <a:t>Time Series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463040" cy="54864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241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5A5A"/>
                </a:solidFill>
                <a:latin typeface="Arial"/>
              </a:rPr>
              <a:t>Price, load, and generation move together through changing system conditions.</a:t>
            </a:r>
          </a:p>
        </p:txBody>
      </p:sp>
      <p:pic>
        <p:nvPicPr>
          <p:cNvPr id="5" name="Picture 4" descr="time_serie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789920" cy="107938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5074920"/>
            <a:ext cx="2743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5184648"/>
            <a:ext cx="2468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Reading the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7032" y="5440680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The series shows that Alberta prices are calm most of the time, but they jump sharply in stressed hours. Load and generation conditions provide the context for those jumps.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Project EDA figure: time series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Arial"/>
              </a:rPr>
              <a:t>EDA: Heavy Tails And Pre-Spike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463040" cy="54864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257800" cy="1840610"/>
          </a:xfrm>
          <a:prstGeom prst="rect">
            <a:avLst/>
          </a:prstGeom>
        </p:spPr>
      </p:pic>
      <p:pic>
        <p:nvPicPr>
          <p:cNvPr id="5" name="Picture 4" descr="spike_vs_non_spi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25880"/>
            <a:ext cx="5440680" cy="26898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4406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424"/>
                </a:solidFill>
                <a:latin typeface="Arial"/>
              </a:defRPr>
            </a:pPr>
            <a:r>
              <a:t>The price distribution is strongly right-skewed, which is why spike classification is more useful than plain average-price forecasting.</a:t>
            </a:r>
          </a:p>
          <a:p>
            <a:pPr>
              <a:spcAft>
                <a:spcPts val="800"/>
              </a:spcAft>
              <a:defRPr sz="1600">
                <a:solidFill>
                  <a:srgbClr val="242424"/>
                </a:solidFill>
                <a:latin typeface="Arial"/>
              </a:defRPr>
            </a:pPr>
            <a:r>
              <a:t>Rows followed by spikes already show higher stress: higher current prices and net load, but lower wind output and reserve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Project EDA figures: price distribution and spike vs. non-spike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Arial"/>
              </a:rPr>
              <a:t>EDA: Patterns By Hour And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463040" cy="54864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ice_heatmap_hour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486400" cy="2565583"/>
          </a:xfrm>
          <a:prstGeom prst="rect">
            <a:avLst/>
          </a:prstGeom>
        </p:spPr>
      </p:pic>
      <p:pic>
        <p:nvPicPr>
          <p:cNvPr id="5" name="Picture 4" descr="load_heatmap_hour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03520" cy="27248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4406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2424"/>
                </a:solidFill>
                <a:latin typeface="Arial"/>
              </a:defRPr>
            </a:pPr>
            <a:r>
              <a:t>The price heatmap shows that high-price periods cluster in specific hours and months rather than appearing uniformly at random.</a:t>
            </a:r>
          </a:p>
          <a:p>
            <a:pPr>
              <a:spcAft>
                <a:spcPts val="800"/>
              </a:spcAft>
              <a:defRPr sz="1600">
                <a:solidFill>
                  <a:srgbClr val="242424"/>
                </a:solidFill>
                <a:latin typeface="Arial"/>
              </a:defRPr>
            </a:pPr>
            <a:r>
              <a:t>The demand heatmap shows predictable hourly and seasonal usage patterns, which helps explain why some periods are consistently more vulnerable to spikes.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Left: average price by month/hour. Right: average AIL by month/hour.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Arial"/>
              </a:rPr>
              <a:t>Modeling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463040" cy="54864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377440" cy="1143000"/>
          </a:xfrm>
          <a:prstGeom prst="roundRect">
            <a:avLst/>
          </a:prstGeom>
          <a:solidFill>
            <a:srgbClr val="F7E9EC"/>
          </a:solidFill>
          <a:ln>
            <a:solidFill>
              <a:srgbClr val="F7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72768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28800"/>
            <a:ext cx="20848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Binary spike indicator at t+2
1 if pool price &gt; CAD 200/MWh, else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63040"/>
            <a:ext cx="2971800" cy="114300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1572768"/>
            <a:ext cx="2697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828800"/>
            <a:ext cx="26791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F1-score is the main metric because spikes are rare and precision-recall balance matters more than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463040"/>
            <a:ext cx="4617720" cy="1143000"/>
          </a:xfrm>
          <a:prstGeom prst="roundRect">
            <a:avLst/>
          </a:prstGeom>
          <a:solidFill>
            <a:srgbClr val="F7E9EC"/>
          </a:solidFill>
          <a:ln>
            <a:solidFill>
              <a:srgbClr val="F7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572768"/>
            <a:ext cx="4343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Leakage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1828800"/>
            <a:ext cx="432511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Strict time-based splitting, training-only scaling, and untouched test data until final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54680"/>
            <a:ext cx="7287043" cy="914400"/>
          </a:xfrm>
          <a:prstGeom prst="roundRect">
            <a:avLst/>
          </a:prstGeom>
          <a:solidFill>
            <a:srgbClr val="E1EF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00400"/>
            <a:ext cx="71407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424"/>
                </a:solidFill>
                <a:latin typeface="Arial"/>
              </a:rPr>
              <a:t>Train
33,672 rows
12.4% spikes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003" y="3154680"/>
            <a:ext cx="2087948" cy="914400"/>
          </a:xfrm>
          <a:prstGeom prst="roundRect">
            <a:avLst/>
          </a:prstGeom>
          <a:solidFill>
            <a:srgbClr val="FFF3C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155" y="3200400"/>
            <a:ext cx="19416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424"/>
                </a:solidFill>
                <a:latin typeface="Arial"/>
              </a:rPr>
              <a:t>Validation
9,648 rows
6.1% spikes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7951" y="3154680"/>
            <a:ext cx="1049168" cy="914400"/>
          </a:xfrm>
          <a:prstGeom prst="roundRect">
            <a:avLst/>
          </a:prstGeom>
          <a:solidFill>
            <a:srgbClr val="E7F4E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71103" y="3200400"/>
            <a:ext cx="9028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242424"/>
                </a:solidFill>
                <a:latin typeface="Arial"/>
              </a:rPr>
              <a:t>Test
4,848 rows
1.8% spikes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424"/>
                </a:solidFill>
                <a:latin typeface="Arial"/>
              </a:defRPr>
            </a:pPr>
            <a:r>
              <a:t>Training and threshold selection were done before the final test period.</a:t>
            </a:r>
          </a:p>
          <a:p>
            <a:pPr>
              <a:spcAft>
                <a:spcPts val="800"/>
              </a:spcAft>
              <a:defRPr sz="1700">
                <a:solidFill>
                  <a:srgbClr val="242424"/>
                </a:solidFill>
                <a:latin typeface="Arial"/>
              </a:defRPr>
            </a:pPr>
            <a:r>
              <a:t>This makes the reported model comparison more credible as an out-of-sample summary.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Split summary taken from the project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Arial"/>
              </a:rPr>
              <a:t>Three Models, Same Prediction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463040" cy="54864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64208"/>
            <a:ext cx="3063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30449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Uses a flat feature vector with lagged price and spike indicators.
Role in the project: simple neural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337560" cy="2011680"/>
          </a:xfrm>
          <a:prstGeom prst="roundRect">
            <a:avLst/>
          </a:prstGeom>
          <a:solidFill>
            <a:srgbClr val="F7E9EC"/>
          </a:solidFill>
          <a:ln>
            <a:solidFill>
              <a:srgbClr val="F7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664208"/>
            <a:ext cx="3063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LSTM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920240"/>
            <a:ext cx="30449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Uses sequential input windows so the model can learn temporal dependence directly.
Role in the project: recurrent benchmark.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337560" cy="20116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664208"/>
            <a:ext cx="3063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920240"/>
            <a:ext cx="30449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Uses temporal filters to detect local ramp and regime patterns in recent observations.
Role in the project: strongest final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2424"/>
                </a:solidFill>
                <a:latin typeface="Arial"/>
              </a:defRPr>
            </a:pPr>
            <a:r>
              <a:t>The design intentionally moves from a simple baseline to richer temporal architectures.</a:t>
            </a:r>
          </a:p>
          <a:p>
            <a:pPr>
              <a:spcAft>
                <a:spcPts val="800"/>
              </a:spcAft>
              <a:defRPr sz="1800">
                <a:solidFill>
                  <a:srgbClr val="242424"/>
                </a:solidFill>
                <a:latin typeface="Arial"/>
              </a:defRPr>
            </a:pPr>
            <a:r>
              <a:t>That makes it easier to judge whether extra temporal structure actually improves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486400"/>
            <a:ext cx="10058400" cy="594360"/>
          </a:xfrm>
          <a:prstGeom prst="roundRect">
            <a:avLst/>
          </a:prstGeom>
          <a:solidFill>
            <a:srgbClr val="F7E9EC"/>
          </a:solidFill>
          <a:ln>
            <a:solidFill>
              <a:srgbClr val="F7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5596128"/>
            <a:ext cx="9784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What changed across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852160"/>
            <a:ext cx="9765792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The target, split, and evaluation logic stayed fixed. Only the architecture changed.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Model summary slide for presentation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Arial"/>
              </a:rPr>
              <a:t>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463040" cy="54864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score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669280" cy="316313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03720" y="1554480"/>
            <a:ext cx="1920240" cy="1234440"/>
          </a:xfrm>
          <a:prstGeom prst="roundRect">
            <a:avLst/>
          </a:prstGeom>
          <a:solidFill>
            <a:srgbClr val="F7E9EC"/>
          </a:solidFill>
          <a:ln>
            <a:solidFill>
              <a:srgbClr val="F7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68312" y="166420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8312" y="1920240"/>
            <a:ext cx="16276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CNN = 0.416
LSTM = 0.394
MLP = 0.363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554480"/>
            <a:ext cx="2194560" cy="123444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17152" y="1664208"/>
            <a:ext cx="1920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Main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20240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The CNN delivered the best overall balance of pattern recognition and generalization on the held-out test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24612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42424"/>
                </a:solidFill>
                <a:latin typeface="Arial"/>
              </a:defRPr>
            </a:pPr>
            <a:r>
              <a:t>The CNN had the highest test F1, suggesting that local temporal patterns matter for short-horizon spike prediction.</a:t>
            </a:r>
          </a:p>
          <a:p>
            <a:pPr>
              <a:spcAft>
                <a:spcPts val="800"/>
              </a:spcAft>
              <a:defRPr sz="1700">
                <a:solidFill>
                  <a:srgbClr val="242424"/>
                </a:solidFill>
                <a:latin typeface="Arial"/>
              </a:defRPr>
            </a:pPr>
            <a:r>
              <a:t>The LSTM remained competitive but did not surpass the CNN.</a:t>
            </a:r>
          </a:p>
          <a:p>
            <a:pPr>
              <a:spcAft>
                <a:spcPts val="800"/>
              </a:spcAft>
              <a:defRPr sz="1700">
                <a:solidFill>
                  <a:srgbClr val="242424"/>
                </a:solidFill>
                <a:latin typeface="Arial"/>
              </a:defRPr>
            </a:pPr>
            <a:r>
              <a:t>The MLP served its purpose as a simpler benchmark, but it captured less of the temporal structure in the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Scores used in this summary: CNN 0.416, LSTM 0.394, MLP 0.363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6032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42424"/>
                </a:solidFill>
                <a:latin typeface="Arial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68680"/>
            <a:ext cx="1463040" cy="54864"/>
          </a:xfrm>
          <a:prstGeom prst="rect">
            <a:avLst/>
          </a:prstGeom>
          <a:solidFill>
            <a:srgbClr val="B5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08760"/>
            <a:ext cx="3429000" cy="13258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1618488"/>
            <a:ext cx="3154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Takeaway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874520"/>
            <a:ext cx="31363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Electricity prices in Alberta are heavy-tailed, seasonal, and clearly linked to system tightness.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429000" cy="1325880"/>
          </a:xfrm>
          <a:prstGeom prst="roundRect">
            <a:avLst/>
          </a:prstGeom>
          <a:solidFill>
            <a:srgbClr val="F7E9EC"/>
          </a:solidFill>
          <a:ln>
            <a:solidFill>
              <a:srgbClr val="F7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18488"/>
            <a:ext cx="3154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Takeaway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874520"/>
            <a:ext cx="31363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EDA supports the modeling logic: hours before spikes already look different in terms of load, wind, and reserve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08760"/>
            <a:ext cx="3429000" cy="1325880"/>
          </a:xfrm>
          <a:prstGeom prst="round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5592" y="1618488"/>
            <a:ext cx="3154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42424"/>
                </a:solidFill>
                <a:latin typeface="Arial"/>
              </a:rPr>
              <a:t>Takeaway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1874520"/>
            <a:ext cx="313639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242424"/>
                </a:solidFill>
                <a:latin typeface="Arial"/>
              </a:rPr>
              <a:t>Among the three neural models summarized here, the CNN produced the strongest final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42424"/>
                </a:solidFill>
                <a:latin typeface="Arial"/>
              </a:defRPr>
            </a:pPr>
            <a:r>
              <a:t>This project shows that public AESO data contains useful short-run predictive signal for spike risk.</a:t>
            </a:r>
          </a:p>
          <a:p>
            <a:pPr>
              <a:spcAft>
                <a:spcPts val="800"/>
              </a:spcAft>
              <a:defRPr sz="1800">
                <a:solidFill>
                  <a:srgbClr val="242424"/>
                </a:solidFill>
                <a:latin typeface="Arial"/>
              </a:defRPr>
            </a:pPr>
            <a:r>
              <a:t>The summary result is straightforward: CNN first, LSTM second, MLP third.</a:t>
            </a:r>
          </a:p>
          <a:p>
            <a:pPr>
              <a:spcAft>
                <a:spcPts val="800"/>
              </a:spcAft>
              <a:defRPr sz="1800">
                <a:solidFill>
                  <a:srgbClr val="242424"/>
                </a:solidFill>
                <a:latin typeface="Arial"/>
              </a:defRPr>
            </a:pPr>
            <a:r>
              <a:t>Next improvements would likely come from weather, outages, and calibration rather than simply adding more text-book complexity.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A5A5A"/>
                </a:solidFill>
                <a:latin typeface="Arial"/>
              </a:rPr>
              <a:t>Professional summary deck generated from project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2103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5A5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