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Gutiérrez Barajas" userId="7f5691ab37b6de5e" providerId="LiveId" clId="{8D47EAD4-467C-4FAA-AC59-62D20723AF5E}"/>
    <pc:docChg chg="modSld">
      <pc:chgData name="Jorge Gutiérrez Barajas" userId="7f5691ab37b6de5e" providerId="LiveId" clId="{8D47EAD4-467C-4FAA-AC59-62D20723AF5E}" dt="2026-03-31T02:47:02.231" v="0" actId="1076"/>
      <pc:docMkLst>
        <pc:docMk/>
      </pc:docMkLst>
      <pc:sldChg chg="modSp mod">
        <pc:chgData name="Jorge Gutiérrez Barajas" userId="7f5691ab37b6de5e" providerId="LiveId" clId="{8D47EAD4-467C-4FAA-AC59-62D20723AF5E}" dt="2026-03-31T02:47:02.231" v="0" actId="1076"/>
        <pc:sldMkLst>
          <pc:docMk/>
          <pc:sldMk cId="0" sldId="262"/>
        </pc:sldMkLst>
        <pc:picChg chg="mod">
          <ac:chgData name="Jorge Gutiérrez Barajas" userId="7f5691ab37b6de5e" providerId="LiveId" clId="{8D47EAD4-467C-4FAA-AC59-62D20723AF5E}" dt="2026-03-31T02:47:02.231" v="0" actId="1076"/>
          <ac:picMkLst>
            <pc:docMk/>
            <pc:sldMk cId="0" sldId="262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914400"/>
            <a:ext cx="9875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2C2C"/>
                </a:solidFill>
                <a:latin typeface="Arial"/>
              </a:rPr>
              <a:t>Predicting Electricity Price Spikes in Alberta</a:t>
            </a:r>
          </a:p>
          <a:p>
            <a:pPr>
              <a:defRPr sz="2200">
                <a:solidFill>
                  <a:srgbClr val="D6001C"/>
                </a:solidFill>
                <a:latin typeface="Arial"/>
              </a:defRPr>
            </a:pPr>
            <a:r>
              <a:t>(2020-2025)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246888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66666"/>
                </a:solidFill>
                <a:latin typeface="Arial"/>
              </a:rPr>
              <a:t>Data 607 machine learning project
Comparing MLP, LSTM, CNN, and strong time-series baselines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4023360"/>
            <a:ext cx="9509760" cy="123444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07592" y="4133088"/>
            <a:ext cx="9180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Core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4407408"/>
            <a:ext cx="918057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Can public AESO market and generation data predict whether the Alberta pool price will exceed CAD 200/MWh two hours ahead?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Arial"/>
              </a:rPr>
              <a:t>Source: AESO data merged and modeled by the 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2C2C"/>
                </a:solidFill>
                <a:latin typeface="Arial"/>
              </a:rPr>
              <a:t>Motivation And 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554480" cy="54864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Alberta’s deregulated electricity market experiences large hourly pool-price spikes that create financial and operational risk.</a:t>
            </a:r>
          </a:p>
          <a:p>
            <a:pPr>
              <a:spcAft>
                <a:spcPts val="8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Short-horizon spike prediction matters for market participants because dispatch conditions can tighten very quickly.</a:t>
            </a:r>
          </a:p>
          <a:p>
            <a:pPr>
              <a:spcAft>
                <a:spcPts val="8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This project treats spike forecasting as a classification problem instead of only describing past volatility.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600200"/>
            <a:ext cx="4206240" cy="137160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79792" y="1709928"/>
            <a:ext cx="38770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79792" y="1984248"/>
            <a:ext cx="3877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Using publicly available AESO data, can we predict whether a spike occurs at t+2 and determine whether sequence models outperform simpler benchmarks?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246120"/>
            <a:ext cx="4206240" cy="1051560"/>
          </a:xfrm>
          <a:prstGeom prst="round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79792" y="3355848"/>
            <a:ext cx="38770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Definition of a spike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3630168"/>
            <a:ext cx="38770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spike_lead_2 = 1 when the pool price at time t+2 exceeds CAD 200/MWh.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526280"/>
            <a:ext cx="4206240" cy="1325880"/>
          </a:xfrm>
          <a:prstGeom prst="round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9792" y="4636008"/>
            <a:ext cx="38770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Why the horizon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4910328"/>
            <a:ext cx="38770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Using t+2 prevents trivial contemporaneous prediction and makes the exercise closer to a short-run operational warning 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Arial"/>
              </a:rPr>
              <a:t>Presentation structure: motivation, data, EDA, methods, results,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2C2C"/>
                </a:solidFill>
                <a:latin typeface="Arial"/>
              </a:rPr>
              <a:t>Data Sources And 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554480" cy="54864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94960" cy="132588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527048"/>
            <a:ext cx="50657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Dataset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01368"/>
            <a:ext cx="50657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AESO Hourly Metered Volumes and Pool Price and AIL:
Hourly pool price, system load, and import-export 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71800"/>
            <a:ext cx="5394960" cy="1463040"/>
          </a:xfrm>
          <a:prstGeom prst="round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3081528"/>
            <a:ext cx="50657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Dataset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355848"/>
            <a:ext cx="506577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AESO Historical Generation Data (CSD):
Hourly generation aggregated by fuel type, including gas, wind, solar, hydro, and coal.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709160"/>
            <a:ext cx="5394960" cy="114300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4818888"/>
            <a:ext cx="50657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Engineered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5093208"/>
            <a:ext cx="50657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Net load, reserve-style tightness ratios, fuel shares, lagged price terms, lagged spike indicators, and calendar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554480"/>
            <a:ext cx="4937760" cy="150876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64208"/>
            <a:ext cx="4608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Merged 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1938528"/>
            <a:ext cx="460857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48,887 hourly observations
2020-01-02 00:00 to 2025-07-30 22:00
Mountain Prevailing Time alignment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337560"/>
            <a:ext cx="4937760" cy="1508760"/>
          </a:xfrm>
          <a:prstGeom prst="round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3447288"/>
            <a:ext cx="4608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Class imbalance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721608"/>
            <a:ext cx="460857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Overall spike_lead_2 rate = 9.94%
Train = 12.37%
Validation = 6.15%
Test = 1.79%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5074920"/>
            <a:ext cx="4937760" cy="100584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5184648"/>
            <a:ext cx="4608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Why time-based splits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5458968"/>
            <a:ext cx="46085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Train: 2020-01-02 to 2023-11-05
Validation: 2023-11-06 to 2024-12-11
Test: 2024-12-12 to 2025-07-30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Arial"/>
              </a:rPr>
              <a:t>Source: AESO datasets merged at the hourly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2C2C"/>
                </a:solidFill>
                <a:latin typeface="Arial"/>
              </a:rPr>
              <a:t>EDA: Price Distribution And Timing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554480" cy="54864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rice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303520" cy="2935542"/>
          </a:xfrm>
          <a:prstGeom prst="rect">
            <a:avLst/>
          </a:prstGeom>
        </p:spPr>
      </p:pic>
      <p:pic>
        <p:nvPicPr>
          <p:cNvPr id="5" name="Picture 4" descr="pric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03520" cy="325860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5532120"/>
            <a:ext cx="10698480" cy="685800"/>
          </a:xfrm>
          <a:prstGeom prst="round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5641848"/>
            <a:ext cx="103692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Main EDA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916168"/>
            <a:ext cx="10369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Pool prices are highly right-skewed: median = CAD 45.34/MWh, 95th percentile = CAD 431.00/MWh, and maximum = CAD 999.99/MWh. Average prices peak in hours 17, 18, and 16; the highest-price months are 8, 12, and 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Arial"/>
              </a:rPr>
              <a:t>Left: histogram with spike threshold. Right: average price heatmap by month and hour.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2C2C"/>
                </a:solidFill>
                <a:latin typeface="Arial"/>
              </a:rPr>
              <a:t>EDA: System Conditions Before Spikes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554480" cy="54864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65836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557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D600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D600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 future spike</a:t>
                      </a:r>
                    </a:p>
                  </a:txBody>
                  <a:tcPr>
                    <a:solidFill>
                      <a:srgbClr val="D600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Future spike at t+2</a:t>
                      </a:r>
                    </a:p>
                  </a:txBody>
                  <a:tcPr>
                    <a:solidFill>
                      <a:srgbClr val="D600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Current pool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CAD/MWh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65.02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366.57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Current demand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MW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9,798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10,283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Net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8,518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9,599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Wind output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MW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1,103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407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Renewables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Reserve margin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0.851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0.722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0" y="1645920"/>
            <a:ext cx="3840480" cy="132588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54112" y="1755648"/>
            <a:ext cx="35112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54112" y="2029968"/>
            <a:ext cx="35112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Hours followed by spikes are already tighter at time t: current prices and load are higher, while wind output, renewable share, and reserve margin are lower.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337560"/>
            <a:ext cx="3840480" cy="1051560"/>
          </a:xfrm>
          <a:prstGeom prst="round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54112" y="3447288"/>
            <a:ext cx="35112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Additional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3721608"/>
            <a:ext cx="35112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net_load_3h_change shifts from -28.26 MW in non-spike rows to 255.35 MW before future spikes.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4663440"/>
            <a:ext cx="3840480" cy="118872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54112" y="4773168"/>
            <a:ext cx="35112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Economic 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5047488"/>
            <a:ext cx="3511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The EDA is consistent with a scarcity narrative: tighter supply-demand conditions and weaker renewable output tend to precede short-run spikes.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Arial"/>
              </a:rPr>
              <a:t>Means are computed by future spike status using spike_lead_2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2C2C"/>
                </a:solidFill>
                <a:latin typeface="Arial"/>
              </a:rPr>
              <a:t>Prediction Task, Baselines, And Neural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554480" cy="54864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91840" cy="150876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527048"/>
            <a:ext cx="2962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Evaluation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01368"/>
            <a:ext cx="29626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Target: spike_lead_2
Primary metric: F1-score
Thresholds tuned on validation only
Untouched test period reserved for final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46120"/>
            <a:ext cx="3291840" cy="1737360"/>
          </a:xfrm>
          <a:prstGeom prst="round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3355848"/>
            <a:ext cx="2962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Baselines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630168"/>
            <a:ext cx="29626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Naive persistence predicts that the current spike state persists.
SARIMAX treats price as I(1), uses d = 1, Fourier seasonality, and walk-forward forecasting to avoid leakage.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63040"/>
            <a:ext cx="2377440" cy="192024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6552" y="1572768"/>
            <a:ext cx="20482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847088"/>
            <a:ext cx="20482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Simplest neural benchmark.
Flat feature vector with contemporaneous market conditions plus lagged price and spike variables.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463040"/>
            <a:ext cx="2377440" cy="1920240"/>
          </a:xfrm>
          <a:prstGeom prst="round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76872" y="1572768"/>
            <a:ext cx="20482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LSTM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1847088"/>
            <a:ext cx="20482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Sequential model designed to learn temporal dependence over recent hourly windows without manually expanding all lags.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463040"/>
            <a:ext cx="2148840" cy="192024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37192" y="1572768"/>
            <a:ext cx="1819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CNN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1847088"/>
            <a:ext cx="18196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1D convolutional network that detects local ramp and regime patterns in the recent sequence of market conditions.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794760"/>
            <a:ext cx="7269480" cy="1325880"/>
          </a:xfrm>
          <a:prstGeom prst="round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16552" y="3904488"/>
            <a:ext cx="69402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Why compare all three on one slide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4178808"/>
            <a:ext cx="69402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The modeling strategy intentionally moves from a simple MLP benchmark to richer temporal architectures. This makes it easier to judge whether added sequential structure actually improves spike detection.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Arial"/>
              </a:rPr>
              <a:t>Same split logic and validation-threshold tuning were used across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2C2C"/>
                </a:solidFill>
                <a:latin typeface="Arial"/>
              </a:rPr>
              <a:t>Results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554480" cy="54864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1" y="1820354"/>
            <a:ext cx="5303520" cy="294297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554480"/>
          <a:ext cx="4846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D600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D600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D600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D600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Naive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SARIMAX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0.380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0.412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0.354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LSTM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0.377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0.333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0.434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0.340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rPr dirty="0"/>
                        <a:t>0.535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309360" y="5349240"/>
            <a:ext cx="4846320" cy="73152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73952" y="5458968"/>
            <a:ext cx="4517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Headline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5733288"/>
            <a:ext cx="4517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The CNN achieved the strongest held-out performance (test F1 = 0.416), while the naive baseline remained surprisingly competitive at 0.384.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Arial"/>
              </a:rPr>
              <a:t>All metrics are from the untouched test period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2C2C"/>
                </a:solidFill>
                <a:latin typeface="Arial"/>
              </a:rPr>
              <a:t>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554480" cy="54864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611880" cy="141732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664208"/>
            <a:ext cx="32826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Finding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328269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The CNN is the only neural model that clearly improved on the naive persistence baseline in held-out F1.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554480"/>
            <a:ext cx="3611880" cy="1417320"/>
          </a:xfrm>
          <a:prstGeom prst="round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90872" y="1664208"/>
            <a:ext cx="32826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Finding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1938528"/>
            <a:ext cx="328269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The LSTM and naive baseline were very close. This implies short-run persistence already captures a large share of the available predictive signal.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554480"/>
            <a:ext cx="2880360" cy="141732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31352" y="1664208"/>
            <a:ext cx="25511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Finding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1938528"/>
            <a:ext cx="25511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The MLP remained a useful benchmark because it showed how much can be learned from lagged variables alone before moving to sequence models.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Across the neural models, the same drivers repeatedly surfaced: ACTUAL_POOL_PRICE, wind_total, solar_total, and net_load_3h_change.</a:t>
            </a:r>
          </a:p>
          <a:p>
            <a:pPr>
              <a:spcAft>
                <a:spcPts val="8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Those variables align with the EDA and support an economic interpretation based on system tightness and renewable variability.</a:t>
            </a:r>
          </a:p>
          <a:p>
            <a:pPr>
              <a:spcAft>
                <a:spcPts val="8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The baseline comparison is substantively important: without it, the LSTM would appear stronger than it really 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Arial"/>
              </a:rPr>
              <a:t>Interpretation combines model comparison, feature importance, and system-level economics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C2C2C"/>
                </a:solidFill>
                <a:latin typeface="Arial"/>
              </a:rPr>
              <a:t>Conclusions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554480" cy="54864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583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Public AESO data contains meaningful signal for short-horizon Alberta electricity price spike prediction.</a:t>
            </a:r>
          </a:p>
          <a:p>
            <a:pPr>
              <a:spcAft>
                <a:spcPts val="8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The CNN produced the strongest overall result, but strong simple baselines show the task is harder than raw neural scores alone suggest.</a:t>
            </a:r>
          </a:p>
          <a:p>
            <a:pPr>
              <a:spcAft>
                <a:spcPts val="800"/>
              </a:spcAft>
              <a:defRPr sz="1800">
                <a:solidFill>
                  <a:srgbClr val="2C2C2C"/>
                </a:solidFill>
                <a:latin typeface="Arial"/>
              </a:defRPr>
            </a:pPr>
            <a:r>
              <a:t>The main practical lesson is that richer temporal structure helps, but model gains remain modest in a changing and imbalanced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691640"/>
            <a:ext cx="3749039" cy="1463040"/>
          </a:xfrm>
          <a:prstGeom prst="roundRect">
            <a:avLst/>
          </a:prstGeom>
          <a:solidFill>
            <a:srgbClr val="F5E4E8"/>
          </a:solidFill>
          <a:ln>
            <a:solidFill>
              <a:srgbClr val="F5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99832" y="1801368"/>
            <a:ext cx="34198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9832" y="2075688"/>
            <a:ext cx="34198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Add outage information, weather forecasts, probability calibration, and regime-specific models to improve robustness under changing system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703320"/>
            <a:ext cx="3749039" cy="1737360"/>
          </a:xfrm>
          <a:prstGeom prst="round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99832" y="3813048"/>
            <a:ext cx="34198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Arial"/>
              </a:rPr>
              <a:t>Presentation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2" y="4087368"/>
            <a:ext cx="3419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C2C2C"/>
                </a:solidFill>
                <a:latin typeface="Arial"/>
              </a:rPr>
              <a:t>For this project, the CNN delivered the best balance of precision and recall, while the MLP provided a simple benchmark and the LSTM showed that sequential memory alone was not enough to dominate persistence.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Arial"/>
              </a:rP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1103</Words>
  <Application>Microsoft Office PowerPoint</Application>
  <PresentationFormat>Widescreen</PresentationFormat>
  <Paragraphs>133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Gutiérrez Barajas</cp:lastModifiedBy>
  <cp:revision>1</cp:revision>
  <dcterms:created xsi:type="dcterms:W3CDTF">2013-01-27T09:14:16Z</dcterms:created>
  <dcterms:modified xsi:type="dcterms:W3CDTF">2026-03-31T02:47:04Z</dcterms:modified>
  <cp:category/>
</cp:coreProperties>
</file>